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Calibri" pitchFamily="34" charset="0"/>
      <p:regular r:id="rId14"/>
      <p:bold r:id="rId15"/>
      <p:italic r:id="rId16"/>
      <p:boldItalic r:id="rId17"/>
    </p:embeddedFont>
    <p:embeddedFont>
      <p:font typeface="Consolas" pitchFamily="49" charset="0"/>
      <p:regular r:id="rId18"/>
      <p:bold r:id="rId19"/>
      <p:italic r:id="rId20"/>
      <p:boldItalic r:id="rId21"/>
    </p:embeddedFont>
    <p:embeddedFont>
      <p:font typeface="MuseoModerno Medium" charset="0"/>
      <p:regular r:id="rId22"/>
    </p:embeddedFont>
    <p:embeddedFont>
      <p:font typeface="Source Sans 3" charset="0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BE9"/>
    <a:srgbClr val="F6F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-296" y="1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023CA2-2A6E-4E50-8250-4A63FCB4C1E1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6FB406-195D-45B0-B7ED-497448554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2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-9-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-9-9.svg"/><Relationship Id="rId5" Type="http://schemas.openxmlformats.org/officeDocument/2006/relationships/image" Target="../media/image-9-3.svg"/><Relationship Id="rId10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image" Target="../media/image-9-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3EE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098873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Linux Concurrent Producer–Consumer System Using Semaphores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4154289"/>
            <a:ext cx="6296860" cy="917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Team :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Ramya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Sree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– 2520030094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Lohitha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– 2520030109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Teja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Sadwika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- 2520030536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3EE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412" y="113407"/>
            <a:ext cx="4420680" cy="6631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977205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Problem Statement &amp; Objectives</a:t>
            </a:r>
            <a:endParaRPr lang="en-US" sz="2950" dirty="0"/>
          </a:p>
        </p:txBody>
      </p:sp>
      <p:sp>
        <p:nvSpPr>
          <p:cNvPr id="5" name="Shape 2"/>
          <p:cNvSpPr/>
          <p:nvPr/>
        </p:nvSpPr>
        <p:spPr>
          <a:xfrm>
            <a:off x="661475" y="1631057"/>
            <a:ext cx="6296860" cy="828873"/>
          </a:xfrm>
          <a:prstGeom prst="roundRect">
            <a:avLst>
              <a:gd name="adj" fmla="val 2737"/>
            </a:avLst>
          </a:prstGeom>
          <a:solidFill>
            <a:srgbClr val="F3EEE3"/>
          </a:solidFill>
          <a:ln/>
        </p:spPr>
      </p:sp>
      <p:sp>
        <p:nvSpPr>
          <p:cNvPr id="6" name="Text 3"/>
          <p:cNvSpPr/>
          <p:nvPr/>
        </p:nvSpPr>
        <p:spPr>
          <a:xfrm>
            <a:off x="812680" y="1782266"/>
            <a:ext cx="599444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Goal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12680" y="2091035"/>
            <a:ext cx="599444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 a user-space Producer–Consumer system using Linux system-programming primitives.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61475" y="2580878"/>
            <a:ext cx="6296860" cy="828873"/>
          </a:xfrm>
          <a:prstGeom prst="roundRect">
            <a:avLst>
              <a:gd name="adj" fmla="val 2737"/>
            </a:avLst>
          </a:prstGeom>
          <a:solidFill>
            <a:srgbClr val="F3EEE3"/>
          </a:solidFill>
          <a:ln/>
        </p:spPr>
      </p:sp>
      <p:sp>
        <p:nvSpPr>
          <p:cNvPr id="9" name="Text 6"/>
          <p:cNvSpPr/>
          <p:nvPr/>
        </p:nvSpPr>
        <p:spPr>
          <a:xfrm>
            <a:off x="812680" y="2732088"/>
            <a:ext cx="599444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OS Interaction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12680" y="3040856"/>
            <a:ext cx="599444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Demonstrate use of the system-call interface to request kernel services from user space.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61475" y="3530699"/>
            <a:ext cx="6296860" cy="828873"/>
          </a:xfrm>
          <a:prstGeom prst="roundRect">
            <a:avLst>
              <a:gd name="adj" fmla="val 2737"/>
            </a:avLst>
          </a:prstGeom>
          <a:solidFill>
            <a:srgbClr val="F3EEE3"/>
          </a:solidFill>
          <a:ln/>
        </p:spPr>
      </p:sp>
      <p:sp>
        <p:nvSpPr>
          <p:cNvPr id="12" name="Text 9"/>
          <p:cNvSpPr/>
          <p:nvPr/>
        </p:nvSpPr>
        <p:spPr>
          <a:xfrm>
            <a:off x="812680" y="3681909"/>
            <a:ext cx="599444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Process Control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12680" y="3990677"/>
            <a:ext cx="599444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 and manage child processes with fork(), exec(), waitpid(), and orderly termination.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61475" y="4480520"/>
            <a:ext cx="6296860" cy="1046559"/>
          </a:xfrm>
          <a:prstGeom prst="roundRect">
            <a:avLst>
              <a:gd name="adj" fmla="val 2167"/>
            </a:avLst>
          </a:prstGeom>
          <a:solidFill>
            <a:srgbClr val="F3EEE3"/>
          </a:solidFill>
          <a:ln/>
        </p:spPr>
      </p:sp>
      <p:sp>
        <p:nvSpPr>
          <p:cNvPr id="15" name="Text 12"/>
          <p:cNvSpPr/>
          <p:nvPr/>
        </p:nvSpPr>
        <p:spPr>
          <a:xfrm>
            <a:off x="812680" y="4631730"/>
            <a:ext cx="599444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IPC &amp; Base for Concurrency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12680" y="4940498"/>
            <a:ext cx="5994448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 one-way IPC with an anonymous pipe; prepare for thread-based synchronization (mutexes, semaphores).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2363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System Architecture 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68" y="1661319"/>
            <a:ext cx="3880249" cy="38803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90499" y="2370534"/>
            <a:ext cx="6345972" cy="44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Runtime Flow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190499" y="2990056"/>
            <a:ext cx="6345972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parent process (main.c) creates an anonymous pipe, then forks two children. One child becomes the Producer (writes values to the pipe); the other becomes the Consumer (reads from the pipe). Parent monitors and reaps children using waitpid().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190499" y="3983831"/>
            <a:ext cx="6345972" cy="959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Parent: create pipe, fork, redirect, exec producers/consumers.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Producer → writes values to pipe.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Consumer ← reads values from pipe and prints them.</a:t>
            </a:r>
            <a:endParaRPr lang="en-US" sz="1400" dirty="0"/>
          </a:p>
        </p:txBody>
      </p:sp>
      <p:sp>
        <p:nvSpPr>
          <p:cNvPr id="8" name="Rectangle 7"/>
          <p:cNvSpPr/>
          <p:nvPr/>
        </p:nvSpPr>
        <p:spPr>
          <a:xfrm>
            <a:off x="11040177" y="6516303"/>
            <a:ext cx="1078029" cy="341697"/>
          </a:xfrm>
          <a:prstGeom prst="rect">
            <a:avLst/>
          </a:prstGeom>
          <a:solidFill>
            <a:srgbClr val="FAFB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3EE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305024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CO1 — Linux &amp; System-Programming Foundation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769791"/>
            <a:ext cx="629686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program is launched from a shell as a normal user-space executable. It exercises the Linux system-call interface to request OS services (process creation, I/O redirection, inter-process communication). This demonstrates the boundary between user space and kernel space and how applications rely on kernel-provided primitives.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943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CO2 — Process Control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147" y="1703784"/>
            <a:ext cx="3750375" cy="37504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24679" y="1317823"/>
            <a:ext cx="30241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01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724679" y="1555750"/>
            <a:ext cx="5811791" cy="1905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6" name="Text 3"/>
          <p:cNvSpPr/>
          <p:nvPr/>
        </p:nvSpPr>
        <p:spPr>
          <a:xfrm>
            <a:off x="5724679" y="1669455"/>
            <a:ext cx="581179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fork()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724679" y="2026642"/>
            <a:ext cx="581179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Duplicate the calling process to create a parent/child pair.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724679" y="2478683"/>
            <a:ext cx="30241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02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724679" y="2716609"/>
            <a:ext cx="5811791" cy="1905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10" name="Text 7"/>
          <p:cNvSpPr/>
          <p:nvPr/>
        </p:nvSpPr>
        <p:spPr>
          <a:xfrm>
            <a:off x="5724679" y="2830314"/>
            <a:ext cx="581179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execl()/execlp()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724679" y="3187502"/>
            <a:ext cx="581179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Replace child image with Producer or Consumer program binary.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724679" y="3639542"/>
            <a:ext cx="30241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724679" y="3877469"/>
            <a:ext cx="5811791" cy="1905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14" name="Text 11"/>
          <p:cNvSpPr/>
          <p:nvPr/>
        </p:nvSpPr>
        <p:spPr>
          <a:xfrm>
            <a:off x="5724679" y="3991173"/>
            <a:ext cx="581179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waitpid()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724679" y="4348361"/>
            <a:ext cx="581179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Parent blocks (or polls) to collect child exit status and avoid zombies.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724679" y="4800402"/>
            <a:ext cx="30241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MuseoModerno Light" pitchFamily="34" charset="0"/>
                <a:ea typeface="MuseoModerno Light" pitchFamily="34" charset="-122"/>
                <a:cs typeface="MuseoModerno Light" pitchFamily="34" charset="-120"/>
              </a:rPr>
              <a:t>04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724679" y="5038328"/>
            <a:ext cx="5811791" cy="19050"/>
          </a:xfrm>
          <a:prstGeom prst="rect">
            <a:avLst/>
          </a:prstGeom>
          <a:solidFill>
            <a:srgbClr val="325F7B"/>
          </a:solidFill>
          <a:ln/>
        </p:spPr>
      </p:sp>
      <p:sp>
        <p:nvSpPr>
          <p:cNvPr id="18" name="Text 15"/>
          <p:cNvSpPr/>
          <p:nvPr/>
        </p:nvSpPr>
        <p:spPr>
          <a:xfrm>
            <a:off x="5724679" y="5152033"/>
            <a:ext cx="581179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exit()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5724679" y="5509220"/>
            <a:ext cx="581179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Terminate processes cleanly on completion or error.</a:t>
            </a:r>
            <a:endParaRPr lang="en-US" sz="1150" dirty="0"/>
          </a:p>
        </p:txBody>
      </p:sp>
      <p:sp>
        <p:nvSpPr>
          <p:cNvPr id="21" name="Rectangle 20"/>
          <p:cNvSpPr/>
          <p:nvPr/>
        </p:nvSpPr>
        <p:spPr>
          <a:xfrm>
            <a:off x="11040177" y="6516303"/>
            <a:ext cx="1078029" cy="341697"/>
          </a:xfrm>
          <a:prstGeom prst="rect">
            <a:avLst/>
          </a:prstGeom>
          <a:solidFill>
            <a:srgbClr val="FAFB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3EE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6" y="120352"/>
            <a:ext cx="4411354" cy="66171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951627"/>
            <a:ext cx="6296860" cy="150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CO3 — Inter-Process </a:t>
            </a:r>
            <a:r>
              <a:rPr lang="en-US" sz="3150" dirty="0" smtClean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Communication</a:t>
            </a:r>
            <a:endParaRPr lang="en-US" sz="31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4811" y="3341191"/>
            <a:ext cx="2509576" cy="188634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79743" y="4192734"/>
            <a:ext cx="457677" cy="313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Anonymous Pipe Data Flow</a:t>
            </a:r>
            <a:endParaRPr lang="en-US" sz="650" dirty="0"/>
          </a:p>
        </p:txBody>
      </p:sp>
      <p:sp>
        <p:nvSpPr>
          <p:cNvPr id="7" name="Text 3"/>
          <p:cNvSpPr/>
          <p:nvPr/>
        </p:nvSpPr>
        <p:spPr>
          <a:xfrm>
            <a:off x="7164398" y="4682924"/>
            <a:ext cx="680876" cy="20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Producer writes to pipe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7164398" y="4922001"/>
            <a:ext cx="680876" cy="154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5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dup2(pipefd[1], STDOUT_FILENO)</a:t>
            </a:r>
            <a:endParaRPr lang="en-US" sz="500" dirty="0"/>
          </a:p>
        </p:txBody>
      </p:sp>
      <p:sp>
        <p:nvSpPr>
          <p:cNvPr id="9" name="Text 5"/>
          <p:cNvSpPr/>
          <p:nvPr/>
        </p:nvSpPr>
        <p:spPr>
          <a:xfrm>
            <a:off x="5568109" y="4682924"/>
            <a:ext cx="680876" cy="20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Consumer reads from pipe</a:t>
            </a:r>
            <a:endParaRPr lang="en-US" sz="650" dirty="0"/>
          </a:p>
        </p:txBody>
      </p:sp>
      <p:sp>
        <p:nvSpPr>
          <p:cNvPr id="10" name="Text 6"/>
          <p:cNvSpPr/>
          <p:nvPr/>
        </p:nvSpPr>
        <p:spPr>
          <a:xfrm>
            <a:off x="5568109" y="4922001"/>
            <a:ext cx="680876" cy="154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5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dup2(pipefd[0], STDIN_FILENO)</a:t>
            </a:r>
            <a:endParaRPr lang="en-US" sz="500" dirty="0"/>
          </a:p>
        </p:txBody>
      </p:sp>
      <p:sp>
        <p:nvSpPr>
          <p:cNvPr id="11" name="Text 7"/>
          <p:cNvSpPr/>
          <p:nvPr/>
        </p:nvSpPr>
        <p:spPr>
          <a:xfrm>
            <a:off x="6356951" y="3484398"/>
            <a:ext cx="699481" cy="20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Parent creates pipe</a:t>
            </a:r>
            <a:endParaRPr lang="en-US" sz="650" dirty="0"/>
          </a:p>
        </p:txBody>
      </p:sp>
      <p:sp>
        <p:nvSpPr>
          <p:cNvPr id="12" name="Text 8"/>
          <p:cNvSpPr/>
          <p:nvPr/>
        </p:nvSpPr>
        <p:spPr>
          <a:xfrm>
            <a:off x="6356951" y="3723475"/>
            <a:ext cx="699481" cy="77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5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call pipe(pipefd) to open</a:t>
            </a:r>
            <a:endParaRPr lang="en-US" sz="500" dirty="0"/>
          </a:p>
        </p:txBody>
      </p:sp>
      <p:sp>
        <p:nvSpPr>
          <p:cNvPr id="13" name="Text 9"/>
          <p:cNvSpPr/>
          <p:nvPr/>
        </p:nvSpPr>
        <p:spPr>
          <a:xfrm>
            <a:off x="8584092" y="2544763"/>
            <a:ext cx="356206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calls and redirections: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8584092" y="2905323"/>
            <a:ext cx="2952478" cy="2520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pipe(pipefd) — create a pair: pipefd[0] (read), pipefd[1] (write).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dup2(pipefd[1], STDOUT_FILENO) — Producer: standard output → pipe write end.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dup2(pipefd[0], STDIN_FILENO) — Consumer: standard input ← pipe read end.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Close unused ends in each process to avoid blocking and EOF issues.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8584092" y="5548610"/>
            <a:ext cx="295247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flow </a:t>
            </a:r>
            <a:r>
              <a:rPr lang="en-US" sz="1250" dirty="0" smtClean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summary : </a:t>
            </a:r>
            <a:r>
              <a:rPr lang="en-US" sz="12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Producer → Pipe → Consumer (one-way, stream of bytes).</a:t>
            </a:r>
            <a:endParaRPr lang="en-US" sz="1250" dirty="0"/>
          </a:p>
        </p:txBody>
      </p:sp>
      <p:sp>
        <p:nvSpPr>
          <p:cNvPr id="16" name="Rectangle 15"/>
          <p:cNvSpPr/>
          <p:nvPr/>
        </p:nvSpPr>
        <p:spPr>
          <a:xfrm>
            <a:off x="11040177" y="6516303"/>
            <a:ext cx="1078029" cy="341697"/>
          </a:xfrm>
          <a:prstGeom prst="rect">
            <a:avLst/>
          </a:prstGeom>
          <a:solidFill>
            <a:srgbClr val="FAFB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8185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Implementation 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650530"/>
            <a:ext cx="558786" cy="698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56495" y="2650530"/>
            <a:ext cx="174491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main.c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456495" y="3059212"/>
            <a:ext cx="174491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Creates the pipe, forks children, sets up dup2 redirections, execl() calls, and waits for both children to complete.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650530"/>
            <a:ext cx="558786" cy="698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32665" y="2650530"/>
            <a:ext cx="174501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producer.c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232665" y="3059212"/>
            <a:ext cx="17450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Generates the sequence of values (10, 20, 30, 40, 50) and writes them to stdout (redirected into the pipe).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650530"/>
            <a:ext cx="558786" cy="698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08935" y="2650530"/>
            <a:ext cx="174501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consumer.c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7008935" y="3059212"/>
            <a:ext cx="174501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Reads values from stdin (pipe read end) and prints "Consumer received: " for each item.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650530"/>
            <a:ext cx="558786" cy="6985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85204" y="2650530"/>
            <a:ext cx="174501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README.md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785204" y="3059212"/>
            <a:ext cx="1745016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Documents architecture, CO mapping, build and run instructions, and notes for future concurrency extension.</a:t>
            </a:r>
            <a:endParaRPr lang="en-US" sz="1450" dirty="0"/>
          </a:p>
        </p:txBody>
      </p:sp>
      <p:sp>
        <p:nvSpPr>
          <p:cNvPr id="15" name="Rectangle 14"/>
          <p:cNvSpPr/>
          <p:nvPr/>
        </p:nvSpPr>
        <p:spPr>
          <a:xfrm>
            <a:off x="11040177" y="6516303"/>
            <a:ext cx="1078029" cy="341697"/>
          </a:xfrm>
          <a:prstGeom prst="rect">
            <a:avLst/>
          </a:prstGeom>
          <a:solidFill>
            <a:srgbClr val="FAFB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180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Testing &amp; Result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90477"/>
            <a:ext cx="11478330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 &amp; run (example):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61475" y="2044998"/>
            <a:ext cx="10868745" cy="1890117"/>
          </a:xfrm>
          <a:prstGeom prst="roundRect">
            <a:avLst>
              <a:gd name="adj" fmla="val 1500"/>
            </a:avLst>
          </a:prstGeom>
          <a:solidFill>
            <a:srgbClr val="F2EFE8"/>
          </a:solidFill>
          <a:ln/>
        </p:spPr>
      </p:sp>
      <p:sp>
        <p:nvSpPr>
          <p:cNvPr id="5" name="Text 3"/>
          <p:cNvSpPr/>
          <p:nvPr/>
        </p:nvSpPr>
        <p:spPr>
          <a:xfrm>
            <a:off x="888283" y="2234009"/>
            <a:ext cx="10415129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gcc main.c -o main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gcc producer.c -o producer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gcc consumer.c -o consumer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./main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4147741"/>
            <a:ext cx="10868745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 smtClean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Observed </a:t>
            </a:r>
            <a:r>
              <a:rPr lang="en-US" sz="14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output (condensed</a:t>
            </a:r>
            <a:r>
              <a:rPr lang="en-US" sz="1450" dirty="0" smtClean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 :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=== Linux Producer-Consumer System === Pipe created successfully. Consumer started. Consumer received: 10 Consumer received: 20 Consumer received: 30 Consumer received: 40 Consumer received: 50 Consumer finished. Producer and Consumer completed successfully.</a:t>
            </a:r>
            <a:endParaRPr lang="en-US" sz="1450" dirty="0"/>
          </a:p>
        </p:txBody>
      </p:sp>
      <p:sp>
        <p:nvSpPr>
          <p:cNvPr id="10" name="Rectangle 9"/>
          <p:cNvSpPr/>
          <p:nvPr/>
        </p:nvSpPr>
        <p:spPr>
          <a:xfrm>
            <a:off x="11040177" y="6516303"/>
            <a:ext cx="1078029" cy="341697"/>
          </a:xfrm>
          <a:prstGeom prst="rect">
            <a:avLst/>
          </a:prstGeom>
          <a:solidFill>
            <a:srgbClr val="FAFB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3EE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887" y="99120"/>
            <a:ext cx="4439730" cy="66597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58912"/>
            <a:ext cx="6296860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Technologies &amp; OS Concepts Demonstrated</a:t>
            </a:r>
            <a:endParaRPr lang="en-US" sz="2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1624707"/>
            <a:ext cx="330688" cy="3306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1475" y="2071092"/>
            <a:ext cx="629686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Execution Environment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661475" y="2333327"/>
            <a:ext cx="629686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Linux / WSL Ubuntu — process model and shell-based invocation.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2698552"/>
            <a:ext cx="330688" cy="3306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61475" y="3144937"/>
            <a:ext cx="629686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Language &amp; Toolchain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661475" y="3407172"/>
            <a:ext cx="629686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 with GCC — low-level control and POSIX APIs.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3772396"/>
            <a:ext cx="330688" cy="33069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61475" y="4218781"/>
            <a:ext cx="629686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Process APIs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661475" y="4481016"/>
            <a:ext cx="629686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fork(), execl(), waitpid(), exit() — lifecycle and parent/child interactions.</a:t>
            </a:r>
            <a:endParaRPr lang="en-US" sz="10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475" y="4846241"/>
            <a:ext cx="330688" cy="33069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61475" y="5292626"/>
            <a:ext cx="629686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IPC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661475" y="5554861"/>
            <a:ext cx="629686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Anonymous pipe, dup2(), stream redirection via standard I/O.</a:t>
            </a:r>
            <a:endParaRPr lang="en-US" sz="1000" dirty="0"/>
          </a:p>
        </p:txBody>
      </p:sp>
      <p:sp>
        <p:nvSpPr>
          <p:cNvPr id="17" name="Text 10"/>
          <p:cNvSpPr/>
          <p:nvPr/>
        </p:nvSpPr>
        <p:spPr>
          <a:xfrm>
            <a:off x="661475" y="5839023"/>
            <a:ext cx="629686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Scope: CO1–CO3 implemented. Synchronization mechanisms (mutexes, semaphores, threads) are reserved for the concurrency extension.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3EE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" y="127496"/>
            <a:ext cx="4401829" cy="66029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55650"/>
            <a:ext cx="629686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Conclusion &amp; Future Extension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233360" y="1669951"/>
            <a:ext cx="294096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Current Achievement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5233360" y="2088753"/>
            <a:ext cx="2940969" cy="2487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Working Producer–Consumer prototype using processes and an anonymous pipe.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CO1: System-programming fundamentals validated.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CO2: Process creation, exec, and reaping implemented.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CO3: One-way IPC via anonymous pipe verified.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95601" y="1669951"/>
            <a:ext cx="2940969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Next Steps :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595601" y="2171586"/>
            <a:ext cx="2940969" cy="3263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Introduce POSIX threads (pthreads) to enable shared-memory producers/consumers.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 mutexes and condition variables to protect shared buffers and signal availability.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 counting semaphores for buffer-slot accounting and synchronization.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Perform race-condition and deadlock analysis; add instrumentation and tests.</a:t>
            </a:r>
            <a:endParaRPr lang="en-US" sz="1300" dirty="0"/>
          </a:p>
        </p:txBody>
      </p:sp>
      <p:sp>
        <p:nvSpPr>
          <p:cNvPr id="10" name="Rectangle 9"/>
          <p:cNvSpPr/>
          <p:nvPr/>
        </p:nvSpPr>
        <p:spPr>
          <a:xfrm>
            <a:off x="11040177" y="6516303"/>
            <a:ext cx="1078029" cy="341697"/>
          </a:xfrm>
          <a:prstGeom prst="rect">
            <a:avLst/>
          </a:prstGeom>
          <a:solidFill>
            <a:srgbClr val="FAFB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040177" y="6516303"/>
            <a:ext cx="1078029" cy="341697"/>
          </a:xfrm>
          <a:prstGeom prst="rect">
            <a:avLst/>
          </a:prstGeom>
          <a:solidFill>
            <a:srgbClr val="FAFB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192764" y="2338939"/>
            <a:ext cx="742619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600" dirty="0" smtClean="0"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518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751</Words>
  <Application>Microsoft Office PowerPoint</Application>
  <PresentationFormat>Custom</PresentationFormat>
  <Paragraphs>99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Consolas</vt:lpstr>
      <vt:lpstr>MuseoModerno Medium</vt:lpstr>
      <vt:lpstr>Source Sans 3</vt:lpstr>
      <vt:lpstr>MuseoModerno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DELL</cp:lastModifiedBy>
  <cp:revision>7</cp:revision>
  <dcterms:created xsi:type="dcterms:W3CDTF">2026-09-21T15:39:25Z</dcterms:created>
  <dcterms:modified xsi:type="dcterms:W3CDTF">2026-09-22T06:40:00Z</dcterms:modified>
</cp:coreProperties>
</file>